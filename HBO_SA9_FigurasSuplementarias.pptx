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847c14a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847c14a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8527c99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8527c99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527c99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527c99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527c997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527c997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527c99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8527c99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8527c997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8527c997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527c997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8527c997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8527c997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8527c997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8527c997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8527c997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Figuras suplementarias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SF1: Total de ingresos por delegaci</a:t>
            </a:r>
            <a:r>
              <a:rPr lang="en"/>
              <a:t>ón de 1968-1982 comparados con defunciones  en el DF en 1975</a:t>
            </a:r>
            <a:endParaRPr/>
          </a:p>
        </p:txBody>
      </p:sp>
      <p:pic>
        <p:nvPicPr>
          <p:cNvPr id="61" name="Google Shape;61;p14" title="BO_ProcedenciaDelegacion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56959" cy="39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SF2: Tamaño del texto en los campos nominales, en el caso de cero caracteres se </a:t>
            </a:r>
            <a:r>
              <a:rPr lang="en"/>
              <a:t>desconoce</a:t>
            </a:r>
            <a:r>
              <a:rPr lang="en"/>
              <a:t> el nombre y de 1-2 es </a:t>
            </a:r>
            <a:r>
              <a:rPr lang="en"/>
              <a:t>difícil</a:t>
            </a:r>
            <a:r>
              <a:rPr lang="en"/>
              <a:t> determinar la identidad.</a:t>
            </a:r>
            <a:endParaRPr/>
          </a:p>
        </p:txBody>
      </p:sp>
      <p:pic>
        <p:nvPicPr>
          <p:cNvPr id="67" name="Google Shape;67;p15" title="BO_NombreCompleto_Faltantes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12196" cy="39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SF3: Porcentaje vs estimaci</a:t>
            </a:r>
            <a:r>
              <a:rPr lang="en"/>
              <a:t>ón de edad de los ingresos al SEMEFO-DF.</a:t>
            </a:r>
            <a:endParaRPr/>
          </a:p>
        </p:txBody>
      </p:sp>
      <p:pic>
        <p:nvPicPr>
          <p:cNvPr id="73" name="Google Shape;73;p16" title="BO_Edad+FreqKDE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41234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SF4: Proporci</a:t>
            </a:r>
            <a:r>
              <a:rPr lang="en"/>
              <a:t>ón de ingresos por sexo y grupo de edad comparados con los decesos del DF.</a:t>
            </a:r>
            <a:endParaRPr/>
          </a:p>
        </p:txBody>
      </p:sp>
      <p:pic>
        <p:nvPicPr>
          <p:cNvPr id="79" name="Google Shape;79;p17" title="BO_Proporcion_DF+SEMEF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64362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SF5: Defunciones en el DF </a:t>
            </a:r>
            <a:r>
              <a:rPr lang="en"/>
              <a:t>vs.</a:t>
            </a:r>
            <a:r>
              <a:rPr lang="en"/>
              <a:t> ingresos anuales al SEMEFO-DF por sexo.</a:t>
            </a:r>
            <a:endParaRPr/>
          </a:p>
        </p:txBody>
      </p:sp>
      <p:pic>
        <p:nvPicPr>
          <p:cNvPr id="85" name="Google Shape;85;p18" title="BO_Año+Sexo_DF+SEMEFO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068319" cy="39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SF6: Distribuci</a:t>
            </a:r>
            <a:r>
              <a:rPr lang="en"/>
              <a:t>ón de ingresos diarios al SEMEFO-DF por tipo de restos</a:t>
            </a:r>
            <a:endParaRPr/>
          </a:p>
        </p:txBody>
      </p:sp>
      <p:pic>
        <p:nvPicPr>
          <p:cNvPr id="91" name="Google Shape;91;p19" title="BO_Distribucion_TipoRestos+IngresosDiarios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68240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4230575"/>
            <a:ext cx="83403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SF7: Ingresos por d</a:t>
            </a:r>
            <a:r>
              <a:rPr lang="en"/>
              <a:t>ía de la semana, los números indican los ingresos anuales en el día de la semana, el color es con respecto a la media anual de ingresos en el día de la semana</a:t>
            </a:r>
            <a:endParaRPr/>
          </a:p>
        </p:txBody>
      </p:sp>
      <p:pic>
        <p:nvPicPr>
          <p:cNvPr id="97" name="Google Shape;97;p20" title="BO_DiaSemana+Ingresos_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82009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SF8: Ajuste de ley de potencias de la frecuencia de </a:t>
            </a:r>
            <a:r>
              <a:rPr lang="en"/>
              <a:t>categorías</a:t>
            </a:r>
            <a:r>
              <a:rPr lang="en"/>
              <a:t> de diagn</a:t>
            </a:r>
            <a:r>
              <a:rPr lang="en"/>
              <a:t>ósticos (α: 1.663, σ: 0.038, distancia KS: 0.0501)</a:t>
            </a:r>
            <a:endParaRPr/>
          </a:p>
        </p:txBody>
      </p:sp>
      <p:pic>
        <p:nvPicPr>
          <p:cNvPr id="103" name="Google Shape;103;p21" title="BO_Diagnostico_Distribu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79962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4230575"/>
            <a:ext cx="83007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SP9: Red de coocurrencia de palabras en los diagn</a:t>
            </a:r>
            <a:r>
              <a:rPr lang="en"/>
              <a:t>ósticos extendidos por categoría. Se ignoran las palabras que aparecen en todos los diagnósticos del grupo y aquellas con menos de 5 ocurrencias.</a:t>
            </a:r>
            <a:endParaRPr/>
          </a:p>
        </p:txBody>
      </p:sp>
      <p:pic>
        <p:nvPicPr>
          <p:cNvPr id="109" name="Google Shape;109;p22" title="HBO_diag_RedPalabras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374313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